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389888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146304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크래프톤 그룹웨어를 사용하는 5가지 사용자 여정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역할이 다르면 마찰도 다르다 — 페르소나별 핵심 경험 구조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1207008" cy="274320"/>
          </a:xfrm>
          <a:prstGeom prst="roundRect">
            <a:avLst>
              <a:gd name="adj" fmla="val 23333"/>
            </a:avLst>
          </a:prstGeom>
          <a:solidFill>
            <a:srgbClr val="DBEAF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40680" y="47548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  실무자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775704" y="475488"/>
            <a:ext cx="1207008" cy="274320"/>
          </a:xfrm>
          <a:prstGeom prst="roundRect">
            <a:avLst>
              <a:gd name="adj" fmla="val 23333"/>
            </a:avLst>
          </a:prstGeom>
          <a:solidFill>
            <a:srgbClr val="D1FAE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75704" y="47548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  관리자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110728" y="475488"/>
            <a:ext cx="1207008" cy="274320"/>
          </a:xfrm>
          <a:prstGeom prst="roundRect">
            <a:avLst>
              <a:gd name="adj" fmla="val 23333"/>
            </a:avLst>
          </a:prstGeom>
          <a:solidFill>
            <a:srgbClr val="EDE9FE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0728" y="47548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  인사담당자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445752" y="475488"/>
            <a:ext cx="1207008" cy="274320"/>
          </a:xfrm>
          <a:prstGeom prst="roundRect">
            <a:avLst>
              <a:gd name="adj" fmla="val 23333"/>
            </a:avLst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45752" y="47548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  외주파트너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780776" y="475488"/>
            <a:ext cx="1207008" cy="274320"/>
          </a:xfrm>
          <a:prstGeom prst="roundRect">
            <a:avLst>
              <a:gd name="adj" fmla="val 23333"/>
            </a:avLst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0776" y="47548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  예비입사자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" y="15179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OVERVIEW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0604" y="1824228"/>
            <a:ext cx="2130552" cy="4041648"/>
          </a:xfrm>
          <a:prstGeom prst="roundRect">
            <a:avLst>
              <a:gd name="adj" fmla="val 5579"/>
            </a:avLst>
          </a:prstGeom>
          <a:solidFill>
            <a:srgbClr val="DEDFE3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" y="1783080"/>
            <a:ext cx="2130552" cy="4041648"/>
          </a:xfrm>
          <a:prstGeom prst="roundRect">
            <a:avLst>
              <a:gd name="adj" fmla="val 5579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293" y="3884737"/>
            <a:ext cx="2024024" cy="1810969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-90983" y="2510577"/>
            <a:ext cx="1384859" cy="1278331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" y="1783080"/>
            <a:ext cx="2130552" cy="685800"/>
          </a:xfrm>
          <a:prstGeom prst="roundRect">
            <a:avLst>
              <a:gd name="adj" fmla="val 17333"/>
            </a:avLst>
          </a:pr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" y="2185416"/>
            <a:ext cx="2130552" cy="2834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9556" y="218541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9556" y="21854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1752" y="2843784"/>
            <a:ext cx="1984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9768" y="3209544"/>
            <a:ext cx="17282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" y="330098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인용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56616" y="3465576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"결재가 어디까지 갔는지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알림도 없이 직접 확인해야 해."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9768" y="4361688"/>
            <a:ext cx="17282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" y="44531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Pain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38328" y="4636008"/>
            <a:ext cx="1911096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672584"/>
            <a:ext cx="17647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Workflow 이탈로 인한 업무 맥락 단절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42032" y="1824228"/>
            <a:ext cx="2130552" cy="4041648"/>
          </a:xfrm>
          <a:prstGeom prst="roundRect">
            <a:avLst>
              <a:gd name="adj" fmla="val 5579"/>
            </a:avLst>
          </a:prstGeom>
          <a:solidFill>
            <a:srgbClr val="DEDFE3"/>
          </a:solidFill>
          <a:ln/>
        </p:spPr>
      </p:sp>
      <p:sp>
        <p:nvSpPr>
          <p:cNvPr id="34" name="Shape 32"/>
          <p:cNvSpPr/>
          <p:nvPr/>
        </p:nvSpPr>
        <p:spPr>
          <a:xfrm>
            <a:off x="2510028" y="1783080"/>
            <a:ext cx="2130552" cy="4041648"/>
          </a:xfrm>
          <a:prstGeom prst="roundRect">
            <a:avLst>
              <a:gd name="adj" fmla="val 5579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55721" y="3884737"/>
            <a:ext cx="2024024" cy="1810969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6" name="Shape 34"/>
          <p:cNvSpPr/>
          <p:nvPr/>
        </p:nvSpPr>
        <p:spPr>
          <a:xfrm>
            <a:off x="2190445" y="2510577"/>
            <a:ext cx="1384859" cy="1278331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7" name="Shape 35"/>
          <p:cNvSpPr/>
          <p:nvPr/>
        </p:nvSpPr>
        <p:spPr>
          <a:xfrm>
            <a:off x="2510028" y="1783080"/>
            <a:ext cx="2130552" cy="685800"/>
          </a:xfrm>
          <a:prstGeom prst="roundRect">
            <a:avLst>
              <a:gd name="adj" fmla="val 17333"/>
            </a:avLst>
          </a:prstGeom>
          <a:solidFill>
            <a:srgbClr val="10B981"/>
          </a:solidFill>
          <a:ln/>
        </p:spPr>
      </p:sp>
      <p:sp>
        <p:nvSpPr>
          <p:cNvPr id="38" name="Shape 36"/>
          <p:cNvSpPr/>
          <p:nvPr/>
        </p:nvSpPr>
        <p:spPr>
          <a:xfrm>
            <a:off x="2510028" y="2185416"/>
            <a:ext cx="2130552" cy="2834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Shape 37"/>
          <p:cNvSpPr/>
          <p:nvPr/>
        </p:nvSpPr>
        <p:spPr>
          <a:xfrm>
            <a:off x="3300984" y="218541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00984" y="21854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83180" y="2843784"/>
            <a:ext cx="1984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2711196" y="3209544"/>
            <a:ext cx="17282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2638044" y="330098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인용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8044" y="3465576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"결재 대기가 10건인데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뭐가 급한지 모르겠어."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11196" y="4361688"/>
            <a:ext cx="17282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4"/>
          <p:cNvSpPr/>
          <p:nvPr/>
        </p:nvSpPr>
        <p:spPr>
          <a:xfrm>
            <a:off x="2638044" y="44531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Pain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619756" y="4636008"/>
            <a:ext cx="1911096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2908" y="4672584"/>
            <a:ext cx="17647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알림↔처리 채널 분리로 우선순위 불명확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23460" y="1824228"/>
            <a:ext cx="2130552" cy="4041648"/>
          </a:xfrm>
          <a:prstGeom prst="roundRect">
            <a:avLst>
              <a:gd name="adj" fmla="val 5579"/>
            </a:avLst>
          </a:prstGeom>
          <a:solidFill>
            <a:srgbClr val="DEDFE3"/>
          </a:solidFill>
          <a:ln/>
        </p:spPr>
      </p:sp>
      <p:sp>
        <p:nvSpPr>
          <p:cNvPr id="50" name="Shape 48"/>
          <p:cNvSpPr/>
          <p:nvPr/>
        </p:nvSpPr>
        <p:spPr>
          <a:xfrm>
            <a:off x="4791456" y="1783080"/>
            <a:ext cx="2130552" cy="4041648"/>
          </a:xfrm>
          <a:prstGeom prst="roundRect">
            <a:avLst>
              <a:gd name="adj" fmla="val 5579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37149" y="3884737"/>
            <a:ext cx="2024024" cy="1810969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52" name="Shape 50"/>
          <p:cNvSpPr/>
          <p:nvPr/>
        </p:nvSpPr>
        <p:spPr>
          <a:xfrm>
            <a:off x="4471873" y="2510577"/>
            <a:ext cx="1384859" cy="1278331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4791456" y="1783080"/>
            <a:ext cx="2130552" cy="685800"/>
          </a:xfrm>
          <a:prstGeom prst="roundRect">
            <a:avLst>
              <a:gd name="adj" fmla="val 17333"/>
            </a:avLst>
          </a:prstGeom>
          <a:solidFill>
            <a:srgbClr val="8B5CF6"/>
          </a:solidFill>
          <a:ln/>
        </p:spPr>
      </p:sp>
      <p:sp>
        <p:nvSpPr>
          <p:cNvPr id="54" name="Shape 52"/>
          <p:cNvSpPr/>
          <p:nvPr/>
        </p:nvSpPr>
        <p:spPr>
          <a:xfrm>
            <a:off x="4791456" y="2185416"/>
            <a:ext cx="2130552" cy="2834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5" name="Shape 53"/>
          <p:cNvSpPr/>
          <p:nvPr/>
        </p:nvSpPr>
        <p:spPr>
          <a:xfrm>
            <a:off x="5582412" y="218541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2412" y="21854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64608" y="2843784"/>
            <a:ext cx="1984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인사담당자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4992624" y="3209544"/>
            <a:ext cx="17282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Text 57"/>
          <p:cNvSpPr/>
          <p:nvPr/>
        </p:nvSpPr>
        <p:spPr>
          <a:xfrm>
            <a:off x="4919472" y="330098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인용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919472" y="3465576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"입퇴사 처리마다 권한을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수동으로 하나씩 바꾸는 게 힘들어."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992624" y="4361688"/>
            <a:ext cx="17282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2" name="Text 60"/>
          <p:cNvSpPr/>
          <p:nvPr/>
        </p:nvSpPr>
        <p:spPr>
          <a:xfrm>
            <a:off x="4919472" y="44531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Pain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901184" y="4636008"/>
            <a:ext cx="1911096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74336" y="4672584"/>
            <a:ext cx="17647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 시스템 운영 + 수동 권한 관리 반복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104888" y="1824228"/>
            <a:ext cx="2130552" cy="4041648"/>
          </a:xfrm>
          <a:prstGeom prst="roundRect">
            <a:avLst>
              <a:gd name="adj" fmla="val 5579"/>
            </a:avLst>
          </a:prstGeom>
          <a:solidFill>
            <a:srgbClr val="DEDFE3"/>
          </a:solidFill>
          <a:ln/>
        </p:spPr>
      </p:sp>
      <p:sp>
        <p:nvSpPr>
          <p:cNvPr id="66" name="Shape 64"/>
          <p:cNvSpPr/>
          <p:nvPr/>
        </p:nvSpPr>
        <p:spPr>
          <a:xfrm>
            <a:off x="7072884" y="1783080"/>
            <a:ext cx="2130552" cy="4041648"/>
          </a:xfrm>
          <a:prstGeom prst="roundRect">
            <a:avLst>
              <a:gd name="adj" fmla="val 5579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18577" y="3884737"/>
            <a:ext cx="2024024" cy="1810969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68" name="Shape 66"/>
          <p:cNvSpPr/>
          <p:nvPr/>
        </p:nvSpPr>
        <p:spPr>
          <a:xfrm>
            <a:off x="6753301" y="2510577"/>
            <a:ext cx="1384859" cy="1278331"/>
          </a:xfrm>
          <a:prstGeom prst="ellipse">
            <a:avLst/>
          </a:prstGeom>
          <a:solidFill>
            <a:srgbClr val="FFFBEB"/>
          </a:solidFill>
          <a:ln/>
        </p:spPr>
      </p:sp>
      <p:sp>
        <p:nvSpPr>
          <p:cNvPr id="69" name="Shape 67"/>
          <p:cNvSpPr/>
          <p:nvPr/>
        </p:nvSpPr>
        <p:spPr>
          <a:xfrm>
            <a:off x="7072884" y="1783080"/>
            <a:ext cx="2130552" cy="685800"/>
          </a:xfrm>
          <a:prstGeom prst="roundRect">
            <a:avLst>
              <a:gd name="adj" fmla="val 17333"/>
            </a:avLst>
          </a:prstGeom>
          <a:solidFill>
            <a:srgbClr val="D97706"/>
          </a:solidFill>
          <a:ln/>
        </p:spPr>
      </p:sp>
      <p:sp>
        <p:nvSpPr>
          <p:cNvPr id="70" name="Shape 68"/>
          <p:cNvSpPr/>
          <p:nvPr/>
        </p:nvSpPr>
        <p:spPr>
          <a:xfrm>
            <a:off x="7072884" y="2185416"/>
            <a:ext cx="2130552" cy="2834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1" name="Shape 69"/>
          <p:cNvSpPr/>
          <p:nvPr/>
        </p:nvSpPr>
        <p:spPr>
          <a:xfrm>
            <a:off x="7863840" y="218541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63840" y="21854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146036" y="2843784"/>
            <a:ext cx="1984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외주파트너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7274052" y="3209544"/>
            <a:ext cx="17282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5" name="Text 73"/>
          <p:cNvSpPr/>
          <p:nvPr/>
        </p:nvSpPr>
        <p:spPr>
          <a:xfrm>
            <a:off x="7200900" y="330098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인용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200900" y="3465576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"초대받아서 들어왔는데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 볼 수 있는지 몰라."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274052" y="4361688"/>
            <a:ext cx="17282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8" name="Text 76"/>
          <p:cNvSpPr/>
          <p:nvPr/>
        </p:nvSpPr>
        <p:spPr>
          <a:xfrm>
            <a:off x="7200900" y="44531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Pain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182612" y="4636008"/>
            <a:ext cx="1911096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55764" y="4672584"/>
            <a:ext cx="17647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진입 경로·접근 범위 안내 전무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386316" y="1824228"/>
            <a:ext cx="2130552" cy="4041648"/>
          </a:xfrm>
          <a:prstGeom prst="roundRect">
            <a:avLst>
              <a:gd name="adj" fmla="val 5579"/>
            </a:avLst>
          </a:prstGeom>
          <a:solidFill>
            <a:srgbClr val="DEDFE3"/>
          </a:solidFill>
          <a:ln/>
        </p:spPr>
      </p:sp>
      <p:sp>
        <p:nvSpPr>
          <p:cNvPr id="82" name="Shape 80"/>
          <p:cNvSpPr/>
          <p:nvPr/>
        </p:nvSpPr>
        <p:spPr>
          <a:xfrm>
            <a:off x="9354312" y="1783080"/>
            <a:ext cx="2130552" cy="4041648"/>
          </a:xfrm>
          <a:prstGeom prst="roundRect">
            <a:avLst>
              <a:gd name="adj" fmla="val 5579"/>
            </a:avLst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100005" y="3884737"/>
            <a:ext cx="2024024" cy="1810969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84" name="Shape 82"/>
          <p:cNvSpPr/>
          <p:nvPr/>
        </p:nvSpPr>
        <p:spPr>
          <a:xfrm>
            <a:off x="9034729" y="2510577"/>
            <a:ext cx="1384859" cy="1278331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85" name="Shape 83"/>
          <p:cNvSpPr/>
          <p:nvPr/>
        </p:nvSpPr>
        <p:spPr>
          <a:xfrm>
            <a:off x="9354312" y="1783080"/>
            <a:ext cx="2130552" cy="685800"/>
          </a:xfrm>
          <a:prstGeom prst="roundRect">
            <a:avLst>
              <a:gd name="adj" fmla="val 17333"/>
            </a:avLst>
          </a:prstGeom>
          <a:solidFill>
            <a:srgbClr val="DC2626"/>
          </a:solidFill>
          <a:ln/>
        </p:spPr>
      </p:sp>
      <p:sp>
        <p:nvSpPr>
          <p:cNvPr id="86" name="Shape 84"/>
          <p:cNvSpPr/>
          <p:nvPr/>
        </p:nvSpPr>
        <p:spPr>
          <a:xfrm>
            <a:off x="9354312" y="2185416"/>
            <a:ext cx="2130552" cy="2834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7" name="Shape 85"/>
          <p:cNvSpPr/>
          <p:nvPr/>
        </p:nvSpPr>
        <p:spPr>
          <a:xfrm>
            <a:off x="10145268" y="218541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145268" y="21854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9427464" y="2843784"/>
            <a:ext cx="1984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예비입사자</a:t>
            </a:r>
            <a:endParaRPr lang="en-US" sz="1250" dirty="0"/>
          </a:p>
        </p:txBody>
      </p:sp>
      <p:sp>
        <p:nvSpPr>
          <p:cNvPr id="90" name="Shape 88"/>
          <p:cNvSpPr/>
          <p:nvPr/>
        </p:nvSpPr>
        <p:spPr>
          <a:xfrm>
            <a:off x="9555480" y="3209544"/>
            <a:ext cx="17282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1" name="Text 89"/>
          <p:cNvSpPr/>
          <p:nvPr/>
        </p:nvSpPr>
        <p:spPr>
          <a:xfrm>
            <a:off x="9482328" y="330098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인용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9482328" y="3465576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"뭘 봐야 하고 뭘 준비해야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하는지 아무것도 안 보여."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555480" y="4361688"/>
            <a:ext cx="17282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4" name="Text 92"/>
          <p:cNvSpPr/>
          <p:nvPr/>
        </p:nvSpPr>
        <p:spPr>
          <a:xfrm>
            <a:off x="9482328" y="44531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Pain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9464040" y="4636008"/>
            <a:ext cx="1911096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537192" y="4672584"/>
            <a:ext cx="17647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입사 전 시스템 접근 불가·정보 채널 부재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0" y="6272784"/>
            <a:ext cx="12188952" cy="585216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8" name="Shape 96"/>
          <p:cNvSpPr/>
          <p:nvPr/>
        </p:nvSpPr>
        <p:spPr>
          <a:xfrm>
            <a:off x="237744" y="6409944"/>
            <a:ext cx="45720" cy="310896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99" name="Text 97"/>
          <p:cNvSpPr/>
          <p:nvPr/>
        </p:nvSpPr>
        <p:spPr>
          <a:xfrm>
            <a:off x="365760" y="6272784"/>
            <a:ext cx="11704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시스템, 다른 여정 — 역할 맥락에 맞는 경험 설계가 필요합니다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389888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146304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반복되는 시스템 전환이 만드는 마찰 — 그리고 통합 설계의 기회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그룹웨어와 외부 SaaS 사이의 맥락 단절이 핵심 Pain이며, 통합이 핵심 해법입니다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54696" y="457200"/>
            <a:ext cx="1280160" cy="292608"/>
          </a:xfrm>
          <a:prstGeom prst="roundRect">
            <a:avLst>
              <a:gd name="adj" fmla="val 21875"/>
            </a:avLst>
          </a:prstGeom>
          <a:solidFill>
            <a:srgbClr val="FEE2E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54696" y="4572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 단절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81160" y="457200"/>
            <a:ext cx="1280160" cy="292608"/>
          </a:xfrm>
          <a:prstGeom prst="roundRect">
            <a:avLst>
              <a:gd name="adj" fmla="val 21875"/>
            </a:avLst>
          </a:prstGeom>
          <a:solidFill>
            <a:srgbClr val="DBEAF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4572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설계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707624" y="457200"/>
            <a:ext cx="1280160" cy="292608"/>
          </a:xfrm>
          <a:prstGeom prst="roundRect">
            <a:avLst>
              <a:gd name="adj" fmla="val 21875"/>
            </a:avLst>
          </a:prstGeom>
          <a:solidFill>
            <a:srgbClr val="D1FAE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07624" y="4572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8600" y="151790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MAP · DESIGN DIRECTION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5176" y="1801368"/>
            <a:ext cx="3758184" cy="4407408"/>
          </a:xfrm>
          <a:prstGeom prst="roundRect">
            <a:avLst>
              <a:gd name="adj" fmla="val 3893"/>
            </a:avLst>
          </a:prstGeom>
          <a:solidFill>
            <a:srgbClr val="DEDFE3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" y="1755648"/>
            <a:ext cx="3758184" cy="4407408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07037" y="3871204"/>
            <a:ext cx="3307202" cy="3006547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6" name="Shape 14"/>
          <p:cNvSpPr/>
          <p:nvPr/>
        </p:nvSpPr>
        <p:spPr>
          <a:xfrm>
            <a:off x="-222382" y="2196389"/>
            <a:ext cx="2254910" cy="2067001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980237" y="4840834"/>
            <a:ext cx="1691183" cy="1503274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" y="1755648"/>
            <a:ext cx="3758184" cy="777240"/>
          </a:xfrm>
          <a:prstGeom prst="roundRect">
            <a:avLst>
              <a:gd name="adj" fmla="val 18824"/>
            </a:avLst>
          </a:prstGeom>
          <a:solidFill>
            <a:srgbClr val="EF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" y="2231136"/>
            <a:ext cx="3758184" cy="3017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93192" y="19110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8408" y="19385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전환 비용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" y="2633472"/>
            <a:ext cx="3355848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277063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2706624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↔ 외부 Workflow SaaS 전환 반복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" y="3255264"/>
            <a:ext cx="3355848" cy="731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335584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" y="3291840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 상태를 두 시스템에서 이중 확인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9768" y="3840480"/>
            <a:ext cx="3355848" cy="731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Shape 28"/>
          <p:cNvSpPr/>
          <p:nvPr/>
        </p:nvSpPr>
        <p:spPr>
          <a:xfrm>
            <a:off x="411480" y="394106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" y="3877056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데이터 자동 연동 없는 수동 입력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" y="4425696"/>
            <a:ext cx="3355848" cy="731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Shape 31"/>
          <p:cNvSpPr/>
          <p:nvPr/>
        </p:nvSpPr>
        <p:spPr>
          <a:xfrm>
            <a:off x="411480" y="452628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" y="4462272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위임·설정도 별도 경로로 분산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5504688"/>
            <a:ext cx="3758184" cy="658368"/>
          </a:xfrm>
          <a:prstGeom prst="roundRect">
            <a:avLst>
              <a:gd name="adj" fmla="val 22222"/>
            </a:avLst>
          </a:prstGeom>
          <a:solidFill>
            <a:srgbClr val="7F1D1D"/>
          </a:solidFill>
          <a:ln/>
        </p:spPr>
      </p:sp>
      <p:sp>
        <p:nvSpPr>
          <p:cNvPr id="36" name="Shape 34"/>
          <p:cNvSpPr/>
          <p:nvPr/>
        </p:nvSpPr>
        <p:spPr>
          <a:xfrm>
            <a:off x="228600" y="5504688"/>
            <a:ext cx="3758184" cy="20116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7" name="Shape 35"/>
          <p:cNvSpPr/>
          <p:nvPr/>
        </p:nvSpPr>
        <p:spPr>
          <a:xfrm>
            <a:off x="393192" y="572414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9496" y="5541264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"맥락은 전환될 때마다 끊긴다"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51960" y="1801368"/>
            <a:ext cx="3758184" cy="4407408"/>
          </a:xfrm>
          <a:prstGeom prst="roundRect">
            <a:avLst>
              <a:gd name="adj" fmla="val 3893"/>
            </a:avLst>
          </a:prstGeom>
          <a:solidFill>
            <a:srgbClr val="DEDFE3"/>
          </a:solidFill>
          <a:ln/>
        </p:spPr>
      </p:sp>
      <p:sp>
        <p:nvSpPr>
          <p:cNvPr id="40" name="Shape 38"/>
          <p:cNvSpPr/>
          <p:nvPr/>
        </p:nvSpPr>
        <p:spPr>
          <a:xfrm>
            <a:off x="4215384" y="1755648"/>
            <a:ext cx="3758184" cy="4407408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93821" y="3871204"/>
            <a:ext cx="3307202" cy="3006547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42" name="Shape 40"/>
          <p:cNvSpPr/>
          <p:nvPr/>
        </p:nvSpPr>
        <p:spPr>
          <a:xfrm>
            <a:off x="3764402" y="2196389"/>
            <a:ext cx="2254910" cy="2067001"/>
          </a:xfrm>
          <a:prstGeom prst="ellipse">
            <a:avLst/>
          </a:prstGeom>
          <a:solidFill>
            <a:srgbClr val="FFFBEB"/>
          </a:solidFill>
          <a:ln/>
        </p:spPr>
      </p:sp>
      <p:sp>
        <p:nvSpPr>
          <p:cNvPr id="43" name="Shape 41"/>
          <p:cNvSpPr/>
          <p:nvPr/>
        </p:nvSpPr>
        <p:spPr>
          <a:xfrm>
            <a:off x="4967021" y="4840834"/>
            <a:ext cx="1691183" cy="1503274"/>
          </a:xfrm>
          <a:prstGeom prst="ellipse">
            <a:avLst/>
          </a:prstGeom>
          <a:solidFill>
            <a:srgbClr val="FFFBEB"/>
          </a:solidFill>
          <a:ln/>
        </p:spPr>
      </p:sp>
      <p:sp>
        <p:nvSpPr>
          <p:cNvPr id="44" name="Shape 42"/>
          <p:cNvSpPr/>
          <p:nvPr/>
        </p:nvSpPr>
        <p:spPr>
          <a:xfrm>
            <a:off x="4215384" y="1755648"/>
            <a:ext cx="3758184" cy="777240"/>
          </a:xfrm>
          <a:prstGeom prst="roundRect">
            <a:avLst>
              <a:gd name="adj" fmla="val 18824"/>
            </a:avLst>
          </a:prstGeom>
          <a:solidFill>
            <a:srgbClr val="D97706"/>
          </a:solidFill>
          <a:ln/>
        </p:spPr>
      </p:sp>
      <p:sp>
        <p:nvSpPr>
          <p:cNvPr id="45" name="Shape 43"/>
          <p:cNvSpPr/>
          <p:nvPr/>
        </p:nvSpPr>
        <p:spPr>
          <a:xfrm>
            <a:off x="4215384" y="2231136"/>
            <a:ext cx="3758184" cy="3017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6" name="Shape 44"/>
          <p:cNvSpPr/>
          <p:nvPr/>
        </p:nvSpPr>
        <p:spPr>
          <a:xfrm>
            <a:off x="4379976" y="19110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79976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65192" y="19385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맥락 부재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416552" y="2633472"/>
            <a:ext cx="3355848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Shape 48"/>
          <p:cNvSpPr/>
          <p:nvPr/>
        </p:nvSpPr>
        <p:spPr>
          <a:xfrm>
            <a:off x="4398264" y="2770632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1" name="Text 49"/>
          <p:cNvSpPr/>
          <p:nvPr/>
        </p:nvSpPr>
        <p:spPr>
          <a:xfrm>
            <a:off x="4544568" y="2706624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관리자와 실무자가 동일한 홈 화면 사용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416552" y="3255264"/>
            <a:ext cx="3355848" cy="731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3" name="Shape 51"/>
          <p:cNvSpPr/>
          <p:nvPr/>
        </p:nvSpPr>
        <p:spPr>
          <a:xfrm>
            <a:off x="4398264" y="335584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4544568" y="3291840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 역할 혼재로 탐색 비용 증가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416552" y="3840480"/>
            <a:ext cx="3355848" cy="731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6" name="Shape 54"/>
          <p:cNvSpPr/>
          <p:nvPr/>
        </p:nvSpPr>
        <p:spPr>
          <a:xfrm>
            <a:off x="4398264" y="3941064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7" name="Text 55"/>
          <p:cNvSpPr/>
          <p:nvPr/>
        </p:nvSpPr>
        <p:spPr>
          <a:xfrm>
            <a:off x="4544568" y="3877056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외주파트너·예비입사자 전용 진입 경로 없음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16552" y="4425696"/>
            <a:ext cx="3355848" cy="731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9" name="Shape 57"/>
          <p:cNvSpPr/>
          <p:nvPr/>
        </p:nvSpPr>
        <p:spPr>
          <a:xfrm>
            <a:off x="4398264" y="452628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0" name="Text 58"/>
          <p:cNvSpPr/>
          <p:nvPr/>
        </p:nvSpPr>
        <p:spPr>
          <a:xfrm>
            <a:off x="4544568" y="4462272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우선 정보 노출 없어 매번 직접 탐색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215384" y="5504688"/>
            <a:ext cx="3758184" cy="658368"/>
          </a:xfrm>
          <a:prstGeom prst="roundRect">
            <a:avLst>
              <a:gd name="adj" fmla="val 22222"/>
            </a:avLst>
          </a:prstGeom>
          <a:solidFill>
            <a:srgbClr val="78350F"/>
          </a:solidFill>
          <a:ln/>
        </p:spPr>
      </p:sp>
      <p:sp>
        <p:nvSpPr>
          <p:cNvPr id="62" name="Shape 60"/>
          <p:cNvSpPr/>
          <p:nvPr/>
        </p:nvSpPr>
        <p:spPr>
          <a:xfrm>
            <a:off x="4215384" y="5504688"/>
            <a:ext cx="3758184" cy="201168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63" name="Shape 61"/>
          <p:cNvSpPr/>
          <p:nvPr/>
        </p:nvSpPr>
        <p:spPr>
          <a:xfrm>
            <a:off x="4379976" y="572414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526280" y="5541264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"같은 화면, 다른 필요 — 역할 뷰가 없다"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238744" y="1801368"/>
            <a:ext cx="3758184" cy="4407408"/>
          </a:xfrm>
          <a:prstGeom prst="roundRect">
            <a:avLst>
              <a:gd name="adj" fmla="val 3893"/>
            </a:avLst>
          </a:prstGeom>
          <a:solidFill>
            <a:srgbClr val="DEDFE3"/>
          </a:solidFill>
          <a:ln/>
        </p:spPr>
      </p:sp>
      <p:sp>
        <p:nvSpPr>
          <p:cNvPr id="66" name="Shape 64"/>
          <p:cNvSpPr/>
          <p:nvPr/>
        </p:nvSpPr>
        <p:spPr>
          <a:xfrm>
            <a:off x="8202168" y="1755648"/>
            <a:ext cx="3758184" cy="4407408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80605" y="3871204"/>
            <a:ext cx="3307202" cy="3006547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68" name="Shape 66"/>
          <p:cNvSpPr/>
          <p:nvPr/>
        </p:nvSpPr>
        <p:spPr>
          <a:xfrm>
            <a:off x="7751186" y="2196389"/>
            <a:ext cx="2254910" cy="2067001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69" name="Shape 67"/>
          <p:cNvSpPr/>
          <p:nvPr/>
        </p:nvSpPr>
        <p:spPr>
          <a:xfrm>
            <a:off x="8953805" y="4840834"/>
            <a:ext cx="1691183" cy="150327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70" name="Shape 68"/>
          <p:cNvSpPr/>
          <p:nvPr/>
        </p:nvSpPr>
        <p:spPr>
          <a:xfrm>
            <a:off x="8202168" y="1755648"/>
            <a:ext cx="3758184" cy="777240"/>
          </a:xfrm>
          <a:prstGeom prst="roundRect">
            <a:avLst>
              <a:gd name="adj" fmla="val 18824"/>
            </a:avLst>
          </a:prstGeom>
          <a:solidFill>
            <a:srgbClr val="4F7CFF"/>
          </a:solidFill>
          <a:ln/>
        </p:spPr>
      </p:sp>
      <p:sp>
        <p:nvSpPr>
          <p:cNvPr id="71" name="Shape 69"/>
          <p:cNvSpPr/>
          <p:nvPr/>
        </p:nvSpPr>
        <p:spPr>
          <a:xfrm>
            <a:off x="8202168" y="2231136"/>
            <a:ext cx="3758184" cy="301752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72" name="Shape 70"/>
          <p:cNvSpPr/>
          <p:nvPr/>
        </p:nvSpPr>
        <p:spPr>
          <a:xfrm>
            <a:off x="8366760" y="19110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66760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951976" y="19385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UX 설계 방향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8403336" y="2633472"/>
            <a:ext cx="3355848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6" name="Shape 74"/>
          <p:cNvSpPr/>
          <p:nvPr/>
        </p:nvSpPr>
        <p:spPr>
          <a:xfrm>
            <a:off x="8385048" y="2770632"/>
            <a:ext cx="91440" cy="91440"/>
          </a:xfrm>
          <a:prstGeom prst="ellipse">
            <a:avLst/>
          </a:prstGeom>
          <a:solidFill>
            <a:srgbClr val="4F7CFF"/>
          </a:solidFill>
          <a:ln/>
        </p:spPr>
      </p:sp>
      <p:sp>
        <p:nvSpPr>
          <p:cNvPr id="77" name="Text 75"/>
          <p:cNvSpPr/>
          <p:nvPr/>
        </p:nvSpPr>
        <p:spPr>
          <a:xfrm>
            <a:off x="8531352" y="2706624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Workflow 그룹웨어 통합 → 시스템 이탈 제거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8403336" y="3255264"/>
            <a:ext cx="3355848" cy="731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9" name="Shape 77"/>
          <p:cNvSpPr/>
          <p:nvPr/>
        </p:nvSpPr>
        <p:spPr>
          <a:xfrm>
            <a:off x="8385048" y="3355848"/>
            <a:ext cx="91440" cy="91440"/>
          </a:xfrm>
          <a:prstGeom prst="ellipse">
            <a:avLst/>
          </a:prstGeom>
          <a:solidFill>
            <a:srgbClr val="4F7CFF"/>
          </a:solidFill>
          <a:ln/>
        </p:spPr>
      </p:sp>
      <p:sp>
        <p:nvSpPr>
          <p:cNvPr id="80" name="Text 78"/>
          <p:cNvSpPr/>
          <p:nvPr/>
        </p:nvSpPr>
        <p:spPr>
          <a:xfrm>
            <a:off x="8531352" y="3291840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기반 홈 뷰 분리 (실무자/관리자/Admin)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403336" y="3840480"/>
            <a:ext cx="3355848" cy="731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2" name="Shape 80"/>
          <p:cNvSpPr/>
          <p:nvPr/>
        </p:nvSpPr>
        <p:spPr>
          <a:xfrm>
            <a:off x="8385048" y="3941064"/>
            <a:ext cx="91440" cy="91440"/>
          </a:xfrm>
          <a:prstGeom prst="ellipse">
            <a:avLst/>
          </a:prstGeom>
          <a:solidFill>
            <a:srgbClr val="4F7CFF"/>
          </a:solidFill>
          <a:ln/>
        </p:spPr>
      </p:sp>
      <p:sp>
        <p:nvSpPr>
          <p:cNvPr id="83" name="Text 81"/>
          <p:cNvSpPr/>
          <p:nvPr/>
        </p:nvSpPr>
        <p:spPr>
          <a:xfrm>
            <a:off x="8531352" y="3877056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자동화 → 예비입사자·외주파트너 공식 진입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8403336" y="4425696"/>
            <a:ext cx="3355848" cy="731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5" name="Shape 83"/>
          <p:cNvSpPr/>
          <p:nvPr/>
        </p:nvSpPr>
        <p:spPr>
          <a:xfrm>
            <a:off x="8385048" y="4526280"/>
            <a:ext cx="91440" cy="91440"/>
          </a:xfrm>
          <a:prstGeom prst="ellipse">
            <a:avLst/>
          </a:prstGeom>
          <a:solidFill>
            <a:srgbClr val="4F7CFF"/>
          </a:solidFill>
          <a:ln/>
        </p:spPr>
      </p:sp>
      <p:sp>
        <p:nvSpPr>
          <p:cNvPr id="86" name="Text 84"/>
          <p:cNvSpPr/>
          <p:nvPr/>
        </p:nvSpPr>
        <p:spPr>
          <a:xfrm>
            <a:off x="8531352" y="4462272"/>
            <a:ext cx="3282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결재·근태 상태 실시간 노출로 맥락 완결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202168" y="5504688"/>
            <a:ext cx="3758184" cy="658368"/>
          </a:xfrm>
          <a:prstGeom prst="roundRect">
            <a:avLst>
              <a:gd name="adj" fmla="val 22222"/>
            </a:avLst>
          </a:prstGeom>
          <a:solidFill>
            <a:srgbClr val="1E3A8A"/>
          </a:solidFill>
          <a:ln/>
        </p:spPr>
      </p:sp>
      <p:sp>
        <p:nvSpPr>
          <p:cNvPr id="88" name="Shape 86"/>
          <p:cNvSpPr/>
          <p:nvPr/>
        </p:nvSpPr>
        <p:spPr>
          <a:xfrm>
            <a:off x="8202168" y="5504688"/>
            <a:ext cx="3758184" cy="2011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9" name="Shape 87"/>
          <p:cNvSpPr/>
          <p:nvPr/>
        </p:nvSpPr>
        <p:spPr>
          <a:xfrm>
            <a:off x="8366760" y="572414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Text 88"/>
          <p:cNvSpPr/>
          <p:nvPr/>
        </p:nvSpPr>
        <p:spPr>
          <a:xfrm>
            <a:off x="8513064" y="5541264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"통합은 기능이 아니라 경험의 문제다"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968496" y="3430463"/>
            <a:ext cx="265176" cy="109728"/>
          </a:xfrm>
          <a:prstGeom prst="rect">
            <a:avLst/>
          </a:prstGeom>
          <a:ln/>
        </p:spPr>
      </p:sp>
      <p:sp>
        <p:nvSpPr>
          <p:cNvPr id="92" name="Shape 90"/>
          <p:cNvSpPr/>
          <p:nvPr/>
        </p:nvSpPr>
        <p:spPr>
          <a:xfrm>
            <a:off x="4123944" y="3375599"/>
            <a:ext cx="128016" cy="219456"/>
          </a:xfrm>
          <a:prstGeom prst="rtTriangle">
            <a:avLst/>
          </a:prstGeom>
          <a:solidFill>
            <a:srgbClr val="D97706"/>
          </a:solidFill>
          <a:ln/>
        </p:spPr>
      </p:sp>
      <p:sp>
        <p:nvSpPr>
          <p:cNvPr id="93" name="Shape 91"/>
          <p:cNvSpPr/>
          <p:nvPr/>
        </p:nvSpPr>
        <p:spPr>
          <a:xfrm>
            <a:off x="7955280" y="3430463"/>
            <a:ext cx="265176" cy="109728"/>
          </a:xfrm>
          <a:prstGeom prst="rect">
            <a:avLst/>
          </a:prstGeom>
          <a:ln/>
        </p:spPr>
      </p:sp>
      <p:sp>
        <p:nvSpPr>
          <p:cNvPr id="94" name="Shape 92"/>
          <p:cNvSpPr/>
          <p:nvPr/>
        </p:nvSpPr>
        <p:spPr>
          <a:xfrm>
            <a:off x="8110728" y="3375599"/>
            <a:ext cx="128016" cy="219456"/>
          </a:xfrm>
          <a:prstGeom prst="rtTriangle">
            <a:avLst/>
          </a:prstGeom>
          <a:solidFill>
            <a:srgbClr val="4F7CFF"/>
          </a:solidFill>
          <a:ln/>
        </p:spPr>
      </p:sp>
      <p:sp>
        <p:nvSpPr>
          <p:cNvPr id="95" name="Shape 93"/>
          <p:cNvSpPr/>
          <p:nvPr/>
        </p:nvSpPr>
        <p:spPr>
          <a:xfrm>
            <a:off x="0" y="6272784"/>
            <a:ext cx="12188952" cy="585216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6" name="Shape 94"/>
          <p:cNvSpPr/>
          <p:nvPr/>
        </p:nvSpPr>
        <p:spPr>
          <a:xfrm>
            <a:off x="237744" y="6409944"/>
            <a:ext cx="45720" cy="310896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97" name="Text 95"/>
          <p:cNvSpPr/>
          <p:nvPr/>
        </p:nvSpPr>
        <p:spPr>
          <a:xfrm>
            <a:off x="365760" y="6272784"/>
            <a:ext cx="11704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시스템 안에서 역할별 맥락을 완결하는 것 — 그것이 이번 리뉴얼의 핵심 설계 목표입니다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2026-04-22T06:01:30Z</dcterms:created>
  <dcterms:modified xsi:type="dcterms:W3CDTF">2026-04-22T06:01:30Z</dcterms:modified>
</cp:coreProperties>
</file>